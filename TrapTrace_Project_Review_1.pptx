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24911"/>
            <a:ext cx="49301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091A0"/>
                </a:solidFill>
                <a:latin typeface="Aptos"/>
              </a:rPr>
              <a:t>SOA PROJECT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TRAPTRACE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93392"/>
            <a:ext cx="10241280" cy="78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0" dirty="0">
                <a:solidFill>
                  <a:srgbClr val="FFFFFF"/>
                </a:solidFill>
                <a:latin typeface="Aptos"/>
              </a:rPr>
              <a:t>AI-Powered Scam Detector and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Phishing Message 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78124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DDCE6"/>
                </a:solidFill>
                <a:latin typeface="Aptos"/>
              </a:rPr>
              <a:t>Intelligent detection of suspicious messages, phishing content and malicious URLs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5303520" cy="1143000"/>
          </a:xfrm>
          <a:prstGeom prst="roundRect">
            <a:avLst/>
          </a:prstGeom>
          <a:solidFill>
            <a:srgbClr val="19304E"/>
          </a:solidFill>
          <a:ln>
            <a:solidFill>
              <a:srgbClr val="3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3708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91A0"/>
                </a:solidFill>
                <a:latin typeface="Aptos"/>
              </a:rP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68172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Vineet Gajjelli  |  M. Rohith  |  K. Srikar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9960" y="4224528"/>
            <a:ext cx="4160520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dirty="0">
                <a:solidFill>
                  <a:srgbClr val="FFFFFF"/>
                </a:solidFill>
                <a:latin typeface="Aptos"/>
              </a:rPr>
              <a:t>Under the Guidance of</a:t>
            </a:r>
            <a:br>
              <a:rPr dirty="0"/>
            </a:br>
            <a:r>
              <a:rPr lang="en-US" dirty="0">
                <a:solidFill>
                  <a:schemeClr val="bg1"/>
                </a:solidFill>
              </a:rPr>
              <a:t>Dr. Neelima Gogineni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Professor, 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038"/>
                </a:solidFill>
                <a:latin typeface="Aptos"/>
              </a:rPr>
              <a:t>Outline of Project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C7D"/>
                </a:solidFill>
                <a:latin typeface="Aptos"/>
              </a:rPr>
              <a:t>Project Review-1 structure based on the supplied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804672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91A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7276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074920" cy="804672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0528" y="1581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91A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57276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Research 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14600"/>
            <a:ext cx="5074920" cy="804672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67919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91A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7004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Literature Survey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514600"/>
            <a:ext cx="5074920" cy="804672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267919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91A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67004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Problem Gap Identification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11880"/>
            <a:ext cx="5074920" cy="804672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776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91A0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7673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Innovation, Creativity &amp; Novelty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11880"/>
            <a:ext cx="5074920" cy="804672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3776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91A0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7673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Feasibility &amp; Project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709159"/>
            <a:ext cx="5074920" cy="804672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487375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91A0"/>
                </a:solidFill>
                <a:latin typeface="Apto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864607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Conclusion &amp; Future 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709159"/>
            <a:ext cx="5074920" cy="804672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487375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91A0"/>
                </a:solidFill>
                <a:latin typeface="Aptos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864607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References / Publications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C7D"/>
                </a:solidFill>
                <a:latin typeface="Aptos"/>
              </a:rPr>
              <a:t>TRAPTRACE | SOA PROJECT REVIEW-1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C7D"/>
                </a:solidFill>
                <a:latin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038"/>
                </a:solidFill>
                <a:latin typeface="Aptos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303520" cy="132588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1325880"/>
          </a:xfrm>
          <a:prstGeom prst="rect">
            <a:avLst/>
          </a:prstGeom>
          <a:solidFill>
            <a:srgbClr val="C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72184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Growing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56231"/>
            <a:ext cx="4937759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Scam, phishing and smishing messages increasingly imitate legitimate communication and may contain deceptive links or requests for sensitive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03520" cy="132588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73152" cy="1325880"/>
          </a:xfrm>
          <a:prstGeom prst="rect">
            <a:avLst/>
          </a:prstGeom>
          <a:solidFill>
            <a:srgbClr val="DC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472184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Limits of traditional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856231"/>
            <a:ext cx="4937759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Blacklist and rule-based approaches can struggle with newly generated or rapidly changing threats and may require frequent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80"/>
            <a:ext cx="5303520" cy="132588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926080"/>
            <a:ext cx="73152" cy="132588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072384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User-side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56432"/>
            <a:ext cx="4937759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Users often lack a quick, understandable way to verify a suspicious message or URL before clicking, replying or sharing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26080"/>
            <a:ext cx="5303520" cy="132588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926080"/>
            <a:ext cx="73152" cy="1325880"/>
          </a:xfrm>
          <a:prstGeom prst="rect">
            <a:avLst/>
          </a:prstGeom>
          <a:solidFill>
            <a:srgbClr val="2D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3072384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Need for intelligent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456432"/>
            <a:ext cx="4937759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A practical solution should combine NLP, machine learning and URL analysis to produce fast classification and an interpretable risk assessment.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091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2038"/>
                </a:solidFill>
                <a:latin typeface="Aptos"/>
              </a:rPr>
              <a:t>Proposed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749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832"/>
                </a:solidFill>
                <a:latin typeface="Aptos"/>
              </a:rPr>
              <a:t>TrapTrace analyzes message content and URLs, classifies threat level, and presents the result through a secure web application.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C7D"/>
                </a:solidFill>
                <a:latin typeface="Aptos"/>
              </a:rPr>
              <a:t>TRAPTRACE | SOA PROJECT REVIEW-1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C7D"/>
                </a:solidFill>
                <a:latin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038"/>
                </a:solidFill>
                <a:latin typeface="Aptos"/>
              </a:rPr>
              <a:t>Research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474720" cy="16459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3474720" cy="91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544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2038"/>
                </a:solidFill>
                <a:latin typeface="Aptos"/>
              </a:rPr>
              <a:t>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Identify scam, phishing and suspicious messages using NLP and AI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474720" cy="16459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3474720" cy="91440"/>
          </a:xfrm>
          <a:prstGeom prst="rect">
            <a:avLst/>
          </a:prstGeom>
          <a:solidFill>
            <a:srgbClr val="2D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15544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2038"/>
                </a:solidFill>
                <a:latin typeface="Aptos"/>
              </a:rPr>
              <a:t>Analyze URLs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98424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Extract URL characteristics and identify potentially malicious links.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325880"/>
            <a:ext cx="3474720" cy="16459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5320" y="1325880"/>
            <a:ext cx="3474720" cy="91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6488" y="15544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2038"/>
                </a:solidFill>
                <a:latin typeface="Aptos"/>
              </a:rPr>
              <a:t>Classify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98424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Generate categories such as Safe, Suspicious, Scam and Phishing.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80"/>
            <a:ext cx="3474720" cy="16459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383280"/>
            <a:ext cx="3474720" cy="91440"/>
          </a:xfrm>
          <a:prstGeom prst="rect">
            <a:avLst/>
          </a:prstGeom>
          <a:solidFill>
            <a:srgbClr val="2D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36118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2038"/>
                </a:solidFill>
                <a:latin typeface="Aptos"/>
              </a:rPr>
              <a:t>Explain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04164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Highlight suspicious patterns/features that contribute to a detection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383280"/>
            <a:ext cx="3474720" cy="16459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383280"/>
            <a:ext cx="3474720" cy="91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6008" y="36118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2038"/>
                </a:solidFill>
                <a:latin typeface="Aptos"/>
              </a:rPr>
              <a:t>Secure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04164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Use JWT authentication and MySQL for protected user and detection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383280"/>
            <a:ext cx="3474720" cy="16459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75320" y="3383280"/>
            <a:ext cx="3474720" cy="91440"/>
          </a:xfrm>
          <a:prstGeom prst="rect">
            <a:avLst/>
          </a:prstGeom>
          <a:solidFill>
            <a:srgbClr val="2D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76488" y="36118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2038"/>
                </a:solidFill>
                <a:latin typeface="Aptos"/>
              </a:rPr>
              <a:t>Deploy &amp;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04164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Expose REST APIs with FastAPI, test using Postman, and prepare container/cloud deployment.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C7D"/>
                </a:solidFill>
                <a:latin typeface="Aptos"/>
              </a:rPr>
              <a:t>TRAPTRACE | SOA PROJECT REVIEW-1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C7D"/>
                </a:solidFill>
                <a:latin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038"/>
                </a:solidFill>
                <a:latin typeface="Aptos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C7D"/>
                </a:solidFill>
                <a:latin typeface="Aptos"/>
              </a:rPr>
              <a:t>Selected research relevant to phishing, malicious URL and NLP/ML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874519" cy="475488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307592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Authors /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39" y="1234440"/>
            <a:ext cx="3703320" cy="475488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50591" y="1307592"/>
            <a:ext cx="35570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Title / Methodology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59" y="1234440"/>
            <a:ext cx="2971800" cy="475488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53912" y="1307592"/>
            <a:ext cx="2825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Key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234440"/>
            <a:ext cx="2880360" cy="475488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25712" y="1307592"/>
            <a:ext cx="27340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Limitation / Future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09928"/>
            <a:ext cx="1874519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1783080"/>
            <a:ext cx="172821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Sahoo et al. (2017)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39" y="1709928"/>
            <a:ext cx="370332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50591" y="1783080"/>
            <a:ext cx="35570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Malicious URL Detection using Machine Learning: A Survey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1709928"/>
            <a:ext cx="297180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3912" y="1783080"/>
            <a:ext cx="282549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ML can generalize beyond blacklists for malicious URL detection.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709928"/>
            <a:ext cx="288036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5712" y="1783080"/>
            <a:ext cx="273405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Dataset drift and evolving threats require robust, adaptive detectors.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734056"/>
            <a:ext cx="1874519" cy="1024128"/>
          </a:xfrm>
          <a:prstGeom prst="rect">
            <a:avLst/>
          </a:prstGeom>
          <a:solidFill>
            <a:srgbClr val="F1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" y="2807208"/>
            <a:ext cx="172821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Khonji et al. (2022)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39" y="2734056"/>
            <a:ext cx="3703320" cy="1024128"/>
          </a:xfrm>
          <a:prstGeom prst="rect">
            <a:avLst/>
          </a:prstGeom>
          <a:solidFill>
            <a:srgbClr val="F1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50591" y="2807208"/>
            <a:ext cx="35570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Applications of Deep Learning for Phishing Detection: Systematic Literature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59" y="2734056"/>
            <a:ext cx="2971800" cy="1024128"/>
          </a:xfrm>
          <a:prstGeom prst="rect">
            <a:avLst/>
          </a:prstGeom>
          <a:solidFill>
            <a:srgbClr val="F1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53912" y="2807208"/>
            <a:ext cx="282549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DNN, CNN and RNN/LSTM are widely used; URL and email data are common.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2734056"/>
            <a:ext cx="2880360" cy="1024128"/>
          </a:xfrm>
          <a:prstGeom prst="rect">
            <a:avLst/>
          </a:prstGeom>
          <a:solidFill>
            <a:srgbClr val="F1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25712" y="2807208"/>
            <a:ext cx="273405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Feature selection and dataset quality remain open issues.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758184"/>
            <a:ext cx="1874519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" y="3831336"/>
            <a:ext cx="172821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Kytidou et al. (2025)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39" y="3758184"/>
            <a:ext cx="370332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50591" y="3831336"/>
            <a:ext cx="35570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Machine Learning Techniques for Phishing Detection: 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59" y="3758184"/>
            <a:ext cx="297180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53912" y="3831336"/>
            <a:ext cx="282549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ML/DL, ensembles and newer LLM-based approaches improve automated detection.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3758184"/>
            <a:ext cx="288036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25712" y="3831336"/>
            <a:ext cx="273405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Adversarial attacks, bias, reproducibility and real-time adaptation remain challenges.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782312"/>
            <a:ext cx="1874519" cy="1024128"/>
          </a:xfrm>
          <a:prstGeom prst="rect">
            <a:avLst/>
          </a:prstGeom>
          <a:solidFill>
            <a:srgbClr val="F1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" y="4855464"/>
            <a:ext cx="172821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2026 Review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39" y="4782312"/>
            <a:ext cx="3703320" cy="1024128"/>
          </a:xfrm>
          <a:prstGeom prst="rect">
            <a:avLst/>
          </a:prstGeom>
          <a:solidFill>
            <a:srgbClr val="F1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50591" y="4855464"/>
            <a:ext cx="35570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Intelligent Cybersecurity Systems for Phishing Attack Detection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59" y="4782312"/>
            <a:ext cx="2971800" cy="1024128"/>
          </a:xfrm>
          <a:prstGeom prst="rect">
            <a:avLst/>
          </a:prstGeom>
          <a:solidFill>
            <a:srgbClr val="F1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53912" y="4855464"/>
            <a:ext cx="282549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Hybrid and intelligent approaches are increasingly used across multiple phishing vectors.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4782312"/>
            <a:ext cx="2880360" cy="1024128"/>
          </a:xfrm>
          <a:prstGeom prst="rect">
            <a:avLst/>
          </a:prstGeom>
          <a:solidFill>
            <a:srgbClr val="F1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25712" y="4855464"/>
            <a:ext cx="273405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1E2832"/>
                </a:solidFill>
                <a:latin typeface="Aptos"/>
              </a:rPr>
              <a:t>Need for adaptive, transparent and multi-vector real-time systems.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596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1A0"/>
                </a:solidFill>
                <a:latin typeface="Aptos"/>
              </a:rPr>
              <a:t>Literature indicates a clear shift from static/rule-based detection toward ML, deep learning, transformers and hybrid systems.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C7D"/>
                </a:solidFill>
                <a:latin typeface="Aptos"/>
              </a:rPr>
              <a:t>TRAPTRACE | SOA PROJECT REVIEW-1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C7D"/>
                </a:solidFill>
                <a:latin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038"/>
                </a:solidFill>
                <a:latin typeface="Aptos"/>
              </a:rPr>
              <a:t>Problem Gap Identification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80160"/>
            <a:ext cx="10652760" cy="841248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09728" cy="841248"/>
          </a:xfrm>
          <a:prstGeom prst="rect">
            <a:avLst/>
          </a:prstGeom>
          <a:solidFill>
            <a:srgbClr val="C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417319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Single-vector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389888"/>
            <a:ext cx="7543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Many solutions emphasize only URLs, websites or email/text rather than a unified user-facing detector.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0652760" cy="841248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395728"/>
            <a:ext cx="109728" cy="841248"/>
          </a:xfrm>
          <a:prstGeom prst="rect">
            <a:avLst/>
          </a:prstGeom>
          <a:solidFill>
            <a:srgbClr val="DC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5328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Static defenses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05456"/>
            <a:ext cx="7543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Blacklists and fixed rules may miss newly generated or unseen phishing URLs and message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11296"/>
            <a:ext cx="10652760" cy="841248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3511296"/>
            <a:ext cx="109728" cy="841248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648456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Limited explainability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621024"/>
            <a:ext cx="7543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A prediction without clear reasons may not help users understand what makes content suspicious.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841248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109728" cy="841248"/>
          </a:xfrm>
          <a:prstGeom prst="rect">
            <a:avLst/>
          </a:prstGeom>
          <a:solidFill>
            <a:srgbClr val="2D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7640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Practical deployment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736592"/>
            <a:ext cx="7543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Research models are not always packaged as secure, responsive and testable applications for end users.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692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Research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6235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A0"/>
                </a:solidFill>
                <a:latin typeface="Aptos"/>
              </a:rPr>
              <a:t>Integrate message NLP + URL analysis + AI classification + risk explanation + secure web delivery in one platform.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C7D"/>
                </a:solidFill>
                <a:latin typeface="Aptos"/>
              </a:rPr>
              <a:t>TRAPTRACE | SOA PROJECT REVIEW-1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C7D"/>
                </a:solidFill>
                <a:latin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038"/>
                </a:solidFill>
                <a:latin typeface="Aptos"/>
              </a:rPr>
              <a:t>Innovation, Creativity, and Novelty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2788920" cy="457200"/>
          </a:xfrm>
          <a:prstGeom prst="round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216152"/>
            <a:ext cx="7269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Message / Email / 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392" y="159105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A6C7D"/>
                </a:solidFill>
                <a:latin typeface="Aptos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2788920" cy="457200"/>
          </a:xfrm>
          <a:prstGeom prst="round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REACT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856231"/>
            <a:ext cx="7269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Responsive input &amp; result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22311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A6C7D"/>
                </a:solidFill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423160"/>
            <a:ext cx="2788920" cy="457200"/>
          </a:xfrm>
          <a:prstGeom prst="roundRect">
            <a:avLst/>
          </a:prstGeom>
          <a:solidFill>
            <a:srgbClr val="2D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496312"/>
            <a:ext cx="7269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REST API +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2871215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A6C7D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63239"/>
            <a:ext cx="2788920" cy="457200"/>
          </a:xfrm>
          <a:prstGeom prst="roundRect">
            <a:avLst/>
          </a:prstGeom>
          <a:solidFill>
            <a:srgbClr val="DC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154679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136391"/>
            <a:ext cx="7269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NLTK / spaCy + URL feature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351129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A6C7D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703320"/>
            <a:ext cx="2788920" cy="457200"/>
          </a:xfrm>
          <a:prstGeom prst="roundRect">
            <a:avLst/>
          </a:prstGeom>
          <a:solidFill>
            <a:srgbClr val="C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AI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776472"/>
            <a:ext cx="7269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Scikit-learn + PyTorch + Transformers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415137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A6C7D"/>
                </a:solidFill>
                <a:latin typeface="Aptos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343400"/>
            <a:ext cx="2788920" cy="457200"/>
          </a:xfrm>
          <a:prstGeom prst="roundRect">
            <a:avLst/>
          </a:prstGeom>
          <a:solidFill>
            <a:srgbClr val="2D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43484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4416552"/>
            <a:ext cx="7269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Threat class + risk score + explanation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479145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A6C7D"/>
                </a:solidFill>
                <a:latin typeface="Aptos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983479"/>
            <a:ext cx="2788920" cy="457200"/>
          </a:xfrm>
          <a:prstGeom prst="round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5074919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5056631"/>
            <a:ext cx="7269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832"/>
                </a:solidFill>
                <a:latin typeface="Aptos"/>
              </a:rPr>
              <a:t>Users + detection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150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038"/>
                </a:solidFill>
                <a:latin typeface="Aptos"/>
              </a:rPr>
              <a:t>Novelty / creativity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66928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091A0"/>
                </a:solidFill>
                <a:latin typeface="Aptos"/>
              </a:rPr>
              <a:t>Multi-vector detection, transformer-ready NLP, risk scoring, explainable results, secure authentication and deployable API architecture.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C7D"/>
                </a:solidFill>
                <a:latin typeface="Aptos"/>
              </a:rPr>
              <a:t>TRAPTRACE | SOA PROJECT REVIEW-1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C7D"/>
                </a:solidFill>
                <a:latin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038"/>
                </a:solidFill>
                <a:latin typeface="Aptos"/>
              </a:rPr>
              <a:t>Feasibility and Project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Technical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5212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E2832"/>
                </a:solidFill>
                <a:latin typeface="Aptos"/>
              </a:rPr>
              <a:t>Python + FastAPI, React.js, ML/DL libraries, MySQL and Docker provide a practical development stack. Jupyter supports experimentation; Postman supports API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11430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600200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5A6C7D"/>
                </a:solidFill>
                <a:latin typeface="Aptos"/>
              </a:rPr>
              <a:t>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920240"/>
            <a:ext cx="658368" cy="347472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30568" y="1600200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5A6C7D"/>
                </a:solidFill>
                <a:latin typeface="Apto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30568" y="1920240"/>
            <a:ext cx="658368" cy="347472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0376" y="1600200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5A6C7D"/>
                </a:solidFill>
                <a:latin typeface="Aptos"/>
              </a:rPr>
              <a:t>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0376" y="1920240"/>
            <a:ext cx="658368" cy="347472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0183" y="1600200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5A6C7D"/>
                </a:solidFill>
                <a:latin typeface="Aptos"/>
              </a:rPr>
              <a:t>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30183" y="1920240"/>
            <a:ext cx="658368" cy="347472"/>
          </a:xfrm>
          <a:prstGeom prst="rect">
            <a:avLst/>
          </a:prstGeom>
          <a:solidFill>
            <a:srgbClr val="2D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9992" y="1600200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5A6C7D"/>
                </a:solidFill>
                <a:latin typeface="Aptos"/>
              </a:rPr>
              <a:t>Frontend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9992" y="1920240"/>
            <a:ext cx="658368" cy="347472"/>
          </a:xfrm>
          <a:prstGeom prst="rect">
            <a:avLst/>
          </a:prstGeom>
          <a:solidFill>
            <a:srgbClr val="2D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29800" y="1600200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5A6C7D"/>
                </a:solidFill>
                <a:latin typeface="Aptos"/>
              </a:rPr>
              <a:t>Testing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9800" y="1920240"/>
            <a:ext cx="658368" cy="347472"/>
          </a:xfrm>
          <a:prstGeom prst="rect">
            <a:avLst/>
          </a:prstGeom>
          <a:solidFill>
            <a:srgbClr val="2D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79608" y="1600200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5A6C7D"/>
                </a:solidFill>
                <a:latin typeface="Aptos"/>
              </a:rPr>
              <a:t>Deploy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79608" y="1920240"/>
            <a:ext cx="658368" cy="347472"/>
          </a:xfrm>
          <a:prstGeom prst="rect">
            <a:avLst/>
          </a:prstGeom>
          <a:solidFill>
            <a:srgbClr val="2D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25146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Planned project phases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447" y="3090672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1E2832"/>
                </a:solidFill>
                <a:latin typeface="Aptos"/>
              </a:defRPr>
            </a:pPr>
            <a:r>
              <a:rPr dirty="0"/>
              <a:t>• 1. Requirement &amp; literature study</a:t>
            </a:r>
          </a:p>
          <a:p>
            <a:pPr>
              <a:spcAft>
                <a:spcPts val="800"/>
              </a:spcAft>
              <a:defRPr sz="1150">
                <a:solidFill>
                  <a:srgbClr val="1E2832"/>
                </a:solidFill>
                <a:latin typeface="Aptos"/>
              </a:defRPr>
            </a:pPr>
            <a:r>
              <a:rPr dirty="0"/>
              <a:t>• 2. Dataset collection and preprocessing</a:t>
            </a:r>
          </a:p>
          <a:p>
            <a:pPr>
              <a:spcAft>
                <a:spcPts val="800"/>
              </a:spcAft>
              <a:defRPr sz="1150">
                <a:solidFill>
                  <a:srgbClr val="1E2832"/>
                </a:solidFill>
                <a:latin typeface="Aptos"/>
              </a:defRPr>
            </a:pPr>
            <a:r>
              <a:rPr dirty="0"/>
              <a:t>• 3. Model training and evaluation</a:t>
            </a:r>
          </a:p>
          <a:p>
            <a:pPr>
              <a:spcAft>
                <a:spcPts val="800"/>
              </a:spcAft>
              <a:defRPr sz="1150">
                <a:solidFill>
                  <a:srgbClr val="1E2832"/>
                </a:solidFill>
                <a:latin typeface="Aptos"/>
              </a:defRPr>
            </a:pPr>
            <a:r>
              <a:rPr dirty="0"/>
              <a:t>• 4. </a:t>
            </a:r>
            <a:r>
              <a:rPr dirty="0" err="1"/>
              <a:t>FastAPI</a:t>
            </a:r>
            <a:r>
              <a:rPr dirty="0"/>
              <a:t> backend + JWT + MySQL</a:t>
            </a:r>
          </a:p>
          <a:p>
            <a:pPr>
              <a:spcAft>
                <a:spcPts val="800"/>
              </a:spcAft>
              <a:defRPr sz="1150">
                <a:solidFill>
                  <a:srgbClr val="1E2832"/>
                </a:solidFill>
                <a:latin typeface="Aptos"/>
              </a:defRPr>
            </a:pPr>
            <a:r>
              <a:rPr dirty="0"/>
              <a:t>• 5. React UI and result dashboard</a:t>
            </a:r>
          </a:p>
          <a:p>
            <a:pPr>
              <a:spcAft>
                <a:spcPts val="800"/>
              </a:spcAft>
              <a:defRPr sz="1150">
                <a:solidFill>
                  <a:srgbClr val="1E2832"/>
                </a:solidFill>
                <a:latin typeface="Aptos"/>
              </a:defRPr>
            </a:pPr>
            <a:r>
              <a:rPr dirty="0"/>
              <a:t>• 6. Integration, testing and optimization</a:t>
            </a:r>
          </a:p>
          <a:p>
            <a:pPr>
              <a:spcAft>
                <a:spcPts val="800"/>
              </a:spcAft>
              <a:defRPr sz="1150">
                <a:solidFill>
                  <a:srgbClr val="1E2832"/>
                </a:solidFill>
                <a:latin typeface="Aptos"/>
              </a:defRPr>
            </a:pPr>
            <a:r>
              <a:rPr dirty="0"/>
              <a:t>• 7. Docker + AWS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5146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Conclusion &amp; Future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8036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1E2832"/>
                </a:solidFill>
                <a:latin typeface="Aptos"/>
              </a:defRPr>
            </a:pPr>
            <a:r>
              <a:t>• Build a unified AI-based scam/phishing detector.</a:t>
            </a:r>
          </a:p>
          <a:p>
            <a:pPr>
              <a:spcAft>
                <a:spcPts val="800"/>
              </a:spcAft>
              <a:defRPr sz="1150">
                <a:solidFill>
                  <a:srgbClr val="1E2832"/>
                </a:solidFill>
                <a:latin typeface="Aptos"/>
              </a:defRPr>
            </a:pPr>
            <a:r>
              <a:t>• Improve robustness with larger and continuously updated datasets.</a:t>
            </a:r>
          </a:p>
          <a:p>
            <a:pPr>
              <a:spcAft>
                <a:spcPts val="800"/>
              </a:spcAft>
              <a:defRPr sz="1150">
                <a:solidFill>
                  <a:srgbClr val="1E2832"/>
                </a:solidFill>
                <a:latin typeface="Aptos"/>
              </a:defRPr>
            </a:pPr>
            <a:r>
              <a:t>• Add real-time threat intelligence and multilingual detection.</a:t>
            </a:r>
          </a:p>
          <a:p>
            <a:pPr>
              <a:spcAft>
                <a:spcPts val="800"/>
              </a:spcAft>
              <a:defRPr sz="1150">
                <a:solidFill>
                  <a:srgbClr val="1E2832"/>
                </a:solidFill>
                <a:latin typeface="Aptos"/>
              </a:defRPr>
            </a:pPr>
            <a:r>
              <a:t>• Explore explainable AI and adversarial robustness.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01091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038"/>
                </a:solidFill>
                <a:latin typeface="Aptos"/>
              </a:rPr>
              <a:t>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349240"/>
            <a:ext cx="5257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1E2832"/>
                </a:solidFill>
                <a:latin typeface="Aptos"/>
              </a:rPr>
              <a:t>Sahoo et al. (2017) • </a:t>
            </a:r>
            <a:r>
              <a:rPr sz="950" b="0" dirty="0" err="1">
                <a:solidFill>
                  <a:srgbClr val="1E2832"/>
                </a:solidFill>
                <a:latin typeface="Aptos"/>
              </a:rPr>
              <a:t>Khonji</a:t>
            </a:r>
            <a:r>
              <a:rPr sz="950" b="0" dirty="0">
                <a:solidFill>
                  <a:srgbClr val="1E2832"/>
                </a:solidFill>
                <a:latin typeface="Aptos"/>
              </a:rPr>
              <a:t> et al. (2022) • </a:t>
            </a:r>
            <a:r>
              <a:rPr sz="950" b="0" dirty="0" err="1">
                <a:solidFill>
                  <a:srgbClr val="1E2832"/>
                </a:solidFill>
                <a:latin typeface="Aptos"/>
              </a:rPr>
              <a:t>Kytidou</a:t>
            </a:r>
            <a:r>
              <a:rPr sz="950" b="0" dirty="0">
                <a:solidFill>
                  <a:srgbClr val="1E2832"/>
                </a:solidFill>
                <a:latin typeface="Aptos"/>
              </a:rPr>
              <a:t> et al. (2025) • IEEE </a:t>
            </a:r>
            <a:r>
              <a:rPr sz="950" b="0" dirty="0" err="1">
                <a:solidFill>
                  <a:srgbClr val="1E2832"/>
                </a:solidFill>
                <a:latin typeface="Aptos"/>
              </a:rPr>
              <a:t>BigData</a:t>
            </a:r>
            <a:r>
              <a:rPr sz="950" b="0" dirty="0">
                <a:solidFill>
                  <a:srgbClr val="1E2832"/>
                </a:solidFill>
                <a:latin typeface="Aptos"/>
              </a:rPr>
              <a:t> BERT phishing URL study (2023)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C7D"/>
                </a:solidFill>
                <a:latin typeface="Aptos"/>
              </a:rPr>
              <a:t>TRAPTRACE | SOA PROJECT REVIEW-1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C7D"/>
                </a:solidFill>
                <a:latin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909</Words>
  <Application>Microsoft Office PowerPoint</Application>
  <PresentationFormat>Widescreen</PresentationFormat>
  <Paragraphs>148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Vineet G</cp:lastModifiedBy>
  <cp:revision>35</cp:revision>
  <dcterms:created xsi:type="dcterms:W3CDTF">2026-08-08T06:33:56Z</dcterms:created>
  <dcterms:modified xsi:type="dcterms:W3CDTF">2026-08-19T17:47:45Z</dcterms:modified>
</cp:coreProperties>
</file>